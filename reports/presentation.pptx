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  <p:embeddedFont>
      <p:font typeface="Maven Pro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bold.fntdata"/><Relationship Id="rId25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d34957b5f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d34957b5f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d34957b5f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d34957b5f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d34957b5f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d34957b5f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d34957b5f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d34957b5f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d34957b5f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d34957b5f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d377ca82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d377ca82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d34957b5f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d34957b5f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d34957b5f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ad34957b5f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d34957b5f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d34957b5f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d34957b5f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d34957b5f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d34957b5f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ad34957b5f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d34957b5f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d34957b5f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d34957b5f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ad34957b5f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d34957b5f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ad34957b5f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kaggle.com/datasets/rohitrox/healthcare-provider-fraud-detection-analysi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Healthcare Provider Fraud Detection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34760" y="3596300"/>
            <a:ext cx="4255500" cy="9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Eyad Yahia 13005828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Abdelrahman Walid 13004775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Mohamed Amgad 13001830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Omar Soliman 10003810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Healthcare Industry Losses and How to Stop Them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Healthcare fraud costs the industry more than 68 billion dollars a year. </a:t>
            </a:r>
            <a:r>
              <a:rPr lang="en-GB"/>
              <a:t>Malicious</a:t>
            </a:r>
            <a:r>
              <a:rPr lang="en-GB"/>
              <a:t> </a:t>
            </a:r>
            <a:r>
              <a:rPr lang="en-GB"/>
              <a:t>actors</a:t>
            </a:r>
            <a:r>
              <a:rPr lang="en-GB"/>
              <a:t> use that gap to take advantage of the system.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We can mitigate that by creating interpretable  models built </a:t>
            </a:r>
            <a:r>
              <a:rPr lang="en-GB"/>
              <a:t>specifically</a:t>
            </a:r>
            <a:r>
              <a:rPr lang="en-GB"/>
              <a:t> for the </a:t>
            </a:r>
            <a:r>
              <a:rPr lang="en-GB"/>
              <a:t>highly</a:t>
            </a:r>
            <a:r>
              <a:rPr lang="en-GB"/>
              <a:t> targeted healthcare providers. The </a:t>
            </a:r>
            <a:r>
              <a:rPr lang="en-GB"/>
              <a:t>business</a:t>
            </a:r>
            <a:r>
              <a:rPr lang="en-GB"/>
              <a:t> impact these models will have on the industry is huge.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These models will help reduce false investigations and reduce the number of wasted audits effort and in return will help protect the patients and the public funds.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Dataset Used </a:t>
            </a:r>
            <a:endParaRPr sz="3000"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Healthcare</a:t>
            </a:r>
            <a:r>
              <a:rPr lang="en-GB"/>
              <a:t> Provider Fraud Detection: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Beneficiary (</a:t>
            </a:r>
            <a:r>
              <a:rPr lang="en-GB"/>
              <a:t>dataset contains </a:t>
            </a:r>
            <a:r>
              <a:rPr lang="en-GB"/>
              <a:t>details like health conditions,regioregion they belong to etc)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Inpatient (dataset contains claims filed for those patients who are </a:t>
            </a:r>
            <a:r>
              <a:rPr lang="en-GB"/>
              <a:t>admitted</a:t>
            </a:r>
            <a:r>
              <a:rPr lang="en-GB"/>
              <a:t> into the hospital and like admission and discharge date)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Outpatient (dataset contains </a:t>
            </a:r>
            <a:r>
              <a:rPr lang="en-GB"/>
              <a:t>information</a:t>
            </a:r>
            <a:r>
              <a:rPr lang="en-GB"/>
              <a:t> for those patients who were not admitted into the </a:t>
            </a:r>
            <a:r>
              <a:rPr lang="en-GB"/>
              <a:t>hospital</a:t>
            </a:r>
            <a:r>
              <a:rPr lang="en-GB"/>
              <a:t>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Provider labels (</a:t>
            </a:r>
            <a:r>
              <a:rPr lang="en-GB"/>
              <a:t>healthcare</a:t>
            </a:r>
            <a:r>
              <a:rPr lang="en-GB"/>
              <a:t> providers)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Key IDs: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BeneID (the patient)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Provider (modeling unit)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Dataset Used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Datasize: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Beneficiary: </a:t>
            </a:r>
            <a:r>
              <a:rPr lang="en-GB" sz="1200"/>
              <a:t>138556 unique values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Inpatient: 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40474 </a:t>
            </a:r>
            <a:r>
              <a:rPr lang="en-GB" sz="1200"/>
              <a:t>unique values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Outpatient: 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517737 unique values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Label Balance: </a:t>
            </a:r>
            <a:r>
              <a:rPr lang="en-GB"/>
              <a:t>9.35% fraud and 90.65 non-fraud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Processing and Aggregation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Aggregation Strategy Used: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Summaries from inpatient/outpatient for each healthcare provider that include counts, totals, averages, unique </a:t>
            </a:r>
            <a:r>
              <a:rPr lang="en-GB"/>
              <a:t>beneficiaries and claim counts. </a:t>
            </a:r>
            <a:r>
              <a:rPr lang="en-GB" sz="1200"/>
              <a:t>We basically take all claims from each provider and turn them into summary statistics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For the beneficiary aggregation we count the chronic condition cases and demographics. Basically we summarize the patients each provider treats into numbers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After combing all the claims summarizes (provider claims, beneficiary claims, fraud labels, etc) we create one final table where each row takes one provider and each column takes one feature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EDA highlights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Target Distribution: Fraud rate 9.35%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Inpatient</a:t>
            </a:r>
            <a:r>
              <a:rPr lang="en-GB"/>
              <a:t> non-fraud mean claim counts: 3.48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Inpatient fraud mean claim counts: 46.25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Outpatient non-fraud mean claim counts: 66.95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Outpatient fraud mean claim counts: 374.30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 Imbalance and Strategy</a:t>
            </a:r>
            <a:endParaRPr/>
          </a:p>
        </p:txBody>
      </p:sp>
      <p:sp>
        <p:nvSpPr>
          <p:cNvPr id="314" name="Google Shape;314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In this dataset about 10% of the providers are fraudulent while around 90% are normal and this makes the dataset </a:t>
            </a:r>
            <a:r>
              <a:rPr lang="en-GB"/>
              <a:t>imbalanced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We used 3 techniques to fight the imbalance: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SMOTE (Synthetic Minority Oversampling Technique)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Class-weighted models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PR-AUC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Trade Offs: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SMOTE can cause overfitting because the synthetic samples may be too similar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Class-weighted may increase false negatives if the weights are not balanced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1303800" y="598575"/>
            <a:ext cx="7030500" cy="6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Models Tested</a:t>
            </a:r>
            <a:endParaRPr sz="3000"/>
          </a:p>
        </p:txBody>
      </p:sp>
      <p:sp>
        <p:nvSpPr>
          <p:cNvPr id="320" name="Google Shape;320;p20"/>
          <p:cNvSpPr txBox="1"/>
          <p:nvPr>
            <p:ph idx="1" type="body"/>
          </p:nvPr>
        </p:nvSpPr>
        <p:spPr>
          <a:xfrm>
            <a:off x="1303800" y="1220175"/>
            <a:ext cx="7030500" cy="3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Random Forest: Builds many decision trees based on subsets of data, then chooses the majority vote from these trees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Logistic Regression: Treats fraud detection as a linear relationship between </a:t>
            </a:r>
            <a:r>
              <a:rPr lang="en-GB" sz="1600"/>
              <a:t>features</a:t>
            </a:r>
            <a:r>
              <a:rPr lang="en-GB" sz="1600"/>
              <a:t> and probability of fraud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XGBoost: Builds trees sequentially, where each tree tries to correct the errors of the previous one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/>
              <a:t>We used an 80/20 split for training data and test data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>
            <p:ph type="title"/>
          </p:nvPr>
        </p:nvSpPr>
        <p:spPr>
          <a:xfrm>
            <a:off x="1303800" y="598575"/>
            <a:ext cx="70305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Results: Random Forest (Best)</a:t>
            </a:r>
            <a:endParaRPr sz="3000"/>
          </a:p>
        </p:txBody>
      </p:sp>
      <p:sp>
        <p:nvSpPr>
          <p:cNvPr id="326" name="Google Shape;326;p21"/>
          <p:cNvSpPr txBox="1"/>
          <p:nvPr>
            <p:ph idx="1" type="body"/>
          </p:nvPr>
        </p:nvSpPr>
        <p:spPr>
          <a:xfrm>
            <a:off x="1303800" y="1188075"/>
            <a:ext cx="7030500" cy="3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/>
              <a:t>Highest scores for all metrics, great results and separation of fraud vs non-fraud</a:t>
            </a:r>
            <a:endParaRPr sz="1600"/>
          </a:p>
        </p:txBody>
      </p:sp>
      <p:pic>
        <p:nvPicPr>
          <p:cNvPr id="327" name="Google Shape;3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188075"/>
            <a:ext cx="2743200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Results: XGBoost (Good)</a:t>
            </a:r>
            <a:endParaRPr/>
          </a:p>
        </p:txBody>
      </p:sp>
      <p:sp>
        <p:nvSpPr>
          <p:cNvPr id="333" name="Google Shape;333;p22"/>
          <p:cNvSpPr txBox="1"/>
          <p:nvPr>
            <p:ph idx="1" type="body"/>
          </p:nvPr>
        </p:nvSpPr>
        <p:spPr>
          <a:xfrm>
            <a:off x="1303800" y="1252575"/>
            <a:ext cx="70305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Low precision shows many false alarms. This is because SMOTE tends to oversample and makes model too aggressive.</a:t>
            </a:r>
            <a:endParaRPr/>
          </a:p>
        </p:txBody>
      </p:sp>
      <p:pic>
        <p:nvPicPr>
          <p:cNvPr id="334" name="Google Shape;3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252575"/>
            <a:ext cx="2819400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/>
          <p:nvPr>
            <p:ph type="title"/>
          </p:nvPr>
        </p:nvSpPr>
        <p:spPr>
          <a:xfrm>
            <a:off x="1303800" y="598575"/>
            <a:ext cx="70305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Results: Linear Regression (Worst)</a:t>
            </a:r>
            <a:endParaRPr/>
          </a:p>
        </p:txBody>
      </p:sp>
      <p:sp>
        <p:nvSpPr>
          <p:cNvPr id="340" name="Google Shape;340;p23"/>
          <p:cNvSpPr txBox="1"/>
          <p:nvPr>
            <p:ph idx="1" type="body"/>
          </p:nvPr>
        </p:nvSpPr>
        <p:spPr>
          <a:xfrm>
            <a:off x="1303800" y="1188075"/>
            <a:ext cx="7030500" cy="3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Recall = 1.0 means everything is marked as fraud, which is obviously not true. This model is unusable for real use.</a:t>
            </a:r>
            <a:endParaRPr/>
          </a:p>
        </p:txBody>
      </p:sp>
      <p:pic>
        <p:nvPicPr>
          <p:cNvPr id="341" name="Google Shape;3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788" y="1188075"/>
            <a:ext cx="303847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1303800" y="598575"/>
            <a:ext cx="7030500" cy="6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Error Analysis: False Positives</a:t>
            </a:r>
            <a:endParaRPr sz="3000"/>
          </a:p>
        </p:txBody>
      </p:sp>
      <p:sp>
        <p:nvSpPr>
          <p:cNvPr id="347" name="Google Shape;347;p24"/>
          <p:cNvSpPr txBox="1"/>
          <p:nvPr>
            <p:ph idx="1" type="body"/>
          </p:nvPr>
        </p:nvSpPr>
        <p:spPr>
          <a:xfrm>
            <a:off x="1303800" y="1220175"/>
            <a:ext cx="7030500" cy="3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Expected to be due to unusually high claim values compared to the average.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24"/>
          <p:cNvPicPr preferRelativeResize="0"/>
          <p:nvPr/>
        </p:nvPicPr>
        <p:blipFill rotWithShape="1">
          <a:blip r:embed="rId3">
            <a:alphaModFix/>
          </a:blip>
          <a:srcRect b="0" l="0" r="58270" t="0"/>
          <a:stretch/>
        </p:blipFill>
        <p:spPr>
          <a:xfrm>
            <a:off x="1303800" y="1220175"/>
            <a:ext cx="2098650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3788" y="2571738"/>
            <a:ext cx="593407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"/>
          <p:cNvSpPr txBox="1"/>
          <p:nvPr>
            <p:ph type="title"/>
          </p:nvPr>
        </p:nvSpPr>
        <p:spPr>
          <a:xfrm>
            <a:off x="1303800" y="598575"/>
            <a:ext cx="7030500" cy="6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Error Analysis: False Negatives</a:t>
            </a:r>
            <a:endParaRPr sz="3000"/>
          </a:p>
        </p:txBody>
      </p:sp>
      <p:sp>
        <p:nvSpPr>
          <p:cNvPr id="355" name="Google Shape;355;p25"/>
          <p:cNvSpPr txBox="1"/>
          <p:nvPr>
            <p:ph idx="1" type="body"/>
          </p:nvPr>
        </p:nvSpPr>
        <p:spPr>
          <a:xfrm>
            <a:off x="1303800" y="1263375"/>
            <a:ext cx="7030500" cy="3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first case has claim amount equal to 0, and Reimbursed amount is higher than mean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263375"/>
            <a:ext cx="19431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3788" y="2520663"/>
            <a:ext cx="5953125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 txBox="1"/>
          <p:nvPr>
            <p:ph type="title"/>
          </p:nvPr>
        </p:nvSpPr>
        <p:spPr>
          <a:xfrm>
            <a:off x="1303800" y="598575"/>
            <a:ext cx="70305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Sources:</a:t>
            </a:r>
            <a:endParaRPr/>
          </a:p>
        </p:txBody>
      </p:sp>
      <p:sp>
        <p:nvSpPr>
          <p:cNvPr id="363" name="Google Shape;363;p26"/>
          <p:cNvSpPr txBox="1"/>
          <p:nvPr>
            <p:ph idx="1" type="body"/>
          </p:nvPr>
        </p:nvSpPr>
        <p:spPr>
          <a:xfrm>
            <a:off x="1303800" y="1306325"/>
            <a:ext cx="7030500" cy="32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Kaggle Dataset: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https://www.kaggle.com/datasets/rohitrox/healthcare-provider-fraud-detection-analysis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7"/>
          <p:cNvSpPr txBox="1"/>
          <p:nvPr>
            <p:ph type="ctrTitle"/>
          </p:nvPr>
        </p:nvSpPr>
        <p:spPr>
          <a:xfrm>
            <a:off x="824000" y="1613825"/>
            <a:ext cx="74313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Questions?</a:t>
            </a:r>
            <a:endParaRPr/>
          </a:p>
        </p:txBody>
      </p:sp>
      <p:sp>
        <p:nvSpPr>
          <p:cNvPr id="369" name="Google Shape;369;p27"/>
          <p:cNvSpPr txBox="1"/>
          <p:nvPr>
            <p:ph idx="1" type="subTitle"/>
          </p:nvPr>
        </p:nvSpPr>
        <p:spPr>
          <a:xfrm>
            <a:off x="824000" y="3596300"/>
            <a:ext cx="74313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